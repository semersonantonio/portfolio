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7E5C49-0988-4279-82EE-6F06A9F57654}">
  <a:tblStyle styleId="{C57E5C49-0988-4279-82EE-6F06A9F5765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Relationship Id="rId7" Type="http://schemas.openxmlformats.org/officeDocument/2006/relationships/image" Target="../media/image23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74320" y="640080"/>
            <a:ext cx="2286000" cy="2286000"/>
          </a:xfrm>
          <a:prstGeom prst="ellipse">
            <a:avLst/>
          </a:prstGeom>
          <a:solidFill>
            <a:srgbClr val="0D7377">
              <a:alpha val="18039"/>
            </a:srgbClr>
          </a:solidFill>
          <a:ln cap="flat" cmpd="sng" w="12700">
            <a:solidFill>
              <a:srgbClr val="0D7377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82296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2651760" y="914400"/>
            <a:ext cx="6217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CardioRisk ML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651760" y="196596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Cardiovascular Risk Prediction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651760" y="2560320"/>
            <a:ext cx="6126480" cy="3657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651760" y="2670048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End-to-end ML pipeline for binary classification of cardiovascular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 a synthetic clinical dataset of 10,000 adult patients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651760" y="3749040"/>
            <a:ext cx="1152144" cy="2926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651760" y="3749040"/>
            <a:ext cx="11521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3.10+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913632" y="3749040"/>
            <a:ext cx="1152144" cy="2926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913632" y="3749040"/>
            <a:ext cx="11521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175504" y="3749040"/>
            <a:ext cx="1152144" cy="2926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175504" y="3749040"/>
            <a:ext cx="11521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437376" y="3749040"/>
            <a:ext cx="1152144" cy="2926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437376" y="3749040"/>
            <a:ext cx="11521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7699248" y="3749040"/>
            <a:ext cx="1152144" cy="2926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7699248" y="3749040"/>
            <a:ext cx="11521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2651760" y="44805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Emerson Antonio da Silva  ·  github.com/</a:t>
            </a: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semersonantonio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CardioRisk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Three clinical questions drive the project: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65760" y="1188720"/>
            <a:ext cx="8412480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65760" y="1188720"/>
            <a:ext cx="128016" cy="102412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75488" y="1481328"/>
            <a:ext cx="420624" cy="420624"/>
          </a:xfrm>
          <a:prstGeom prst="ellipse">
            <a:avLst/>
          </a:prstGeom>
          <a:solidFill>
            <a:srgbClr val="0D737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496" y="15453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1005840" y="1280160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 Which factors drive cardiovascular risk?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05840" y="1591056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Feature importance analysis across six ML models to identify the top clinical and lifestyle predictors.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5760" y="2359152"/>
            <a:ext cx="8412480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65760" y="2359152"/>
            <a:ext cx="128016" cy="102412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475488" y="2651760"/>
            <a:ext cx="420624" cy="420624"/>
          </a:xfrm>
          <a:prstGeom prst="ellipse">
            <a:avLst/>
          </a:prstGeom>
          <a:solidFill>
            <a:srgbClr val="1B3A5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496" y="27157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/>
          <p:nvPr/>
        </p:nvSpPr>
        <p:spPr>
          <a:xfrm>
            <a:off x="1005840" y="2450592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 Can ML reliably identify at-risk patients?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005840" y="2761488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Binary classification on 10,000 synthetic patients calibrated against Framingham Heart Study &amp; NHANES.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65760" y="3529584"/>
            <a:ext cx="8412480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65760" y="3529584"/>
            <a:ext cx="128016" cy="1024128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75488" y="3822192"/>
            <a:ext cx="420624" cy="420624"/>
          </a:xfrm>
          <a:prstGeom prst="ellipse">
            <a:avLst/>
          </a:prstGeom>
          <a:solidFill>
            <a:srgbClr val="E67E2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496" y="38862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1005840" y="3621024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 What threshold maximises clinical utility?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005840" y="3931920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Threshold analysis optimised to maximise Recall — minimising missed high-risk cases in preventive screening.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— Synthetic Clinical Records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CardioRisk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65760" y="795528"/>
            <a:ext cx="1938528" cy="1078992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65760" y="886968"/>
            <a:ext cx="1938528" cy="6258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10,000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65760" y="1421343"/>
            <a:ext cx="1938528" cy="41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Patient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487168" y="795528"/>
            <a:ext cx="1938528" cy="10789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2487168" y="886968"/>
            <a:ext cx="1938528" cy="6258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~35%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487168" y="1421343"/>
            <a:ext cx="1938528" cy="41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High-Risk 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608576" y="795528"/>
            <a:ext cx="1938528" cy="107899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608576" y="886968"/>
            <a:ext cx="1938528" cy="6258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608576" y="1421343"/>
            <a:ext cx="1938528" cy="41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Features (incl. 8 engineered)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729984" y="795528"/>
            <a:ext cx="1938528" cy="107899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729984" y="886968"/>
            <a:ext cx="1938528" cy="6258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729984" y="1421343"/>
            <a:ext cx="1938528" cy="41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Random Seed (reproducible)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65760" y="199339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Variable Groups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754880" y="199339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Clinical Grounding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65760" y="2304288"/>
            <a:ext cx="4023360" cy="5852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65760" y="2304288"/>
            <a:ext cx="91440" cy="585216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48640" y="2340864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Demographics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48640" y="257860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Age (30–80 yrs), sex, race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65760" y="2980944"/>
            <a:ext cx="4023360" cy="5852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65760" y="2980944"/>
            <a:ext cx="91440" cy="585216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548640" y="3017520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Vitals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48640" y="325526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Systolic/diastolic BP, BMI, resting HR, height, weight, waist circumference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65760" y="3657600"/>
            <a:ext cx="4023360" cy="5852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65760" y="3657600"/>
            <a:ext cx="91440" cy="585216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48640" y="369417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Lipid Panel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39319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LDL, HDL, triglycerides, total cholesterol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754880" y="2304288"/>
            <a:ext cx="4023360" cy="5852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754880" y="2304288"/>
            <a:ext cx="91440" cy="585216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4937760" y="2340864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Glycaemic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937760" y="257860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Fasting glucose, HbA1c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754880" y="2980944"/>
            <a:ext cx="4023360" cy="5852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4754880" y="2980944"/>
            <a:ext cx="91440" cy="585216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937760" y="3017520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Lifestyle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937760" y="325526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Physical activity, smoking, alcohol use, diet quality, sleep, stress level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754880" y="3657600"/>
            <a:ext cx="4023360" cy="5852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4754880" y="3657600"/>
            <a:ext cx="91440" cy="585216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937760" y="369417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Comorbidities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937760" y="39319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Diabetes, hypertension, family CVD history, CV medication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65760" y="440740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📋  Calibrated against the Framingham Heart Study &amp; NHANES — correlations follow established clinical relationships.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Five-Notebook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CardioRisk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975068" y="2467803"/>
            <a:ext cx="1281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1956780" y="2330643"/>
            <a:ext cx="201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66308" y="1306515"/>
            <a:ext cx="1481400" cy="237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66308" y="1306515"/>
            <a:ext cx="1481400" cy="6585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66308" y="1361379"/>
            <a:ext cx="148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28" y="2019747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466308" y="2568387"/>
            <a:ext cx="1481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657564" y="2467803"/>
            <a:ext cx="1281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3639276" y="2330643"/>
            <a:ext cx="201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148804" y="1306515"/>
            <a:ext cx="1481400" cy="237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2148804" y="1306515"/>
            <a:ext cx="1481400" cy="658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2148804" y="1361379"/>
            <a:ext cx="148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1724" y="2019747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2148804" y="2568387"/>
            <a:ext cx="1481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Exploratory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340060" y="2467803"/>
            <a:ext cx="1281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321772" y="2330643"/>
            <a:ext cx="201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831300" y="1306515"/>
            <a:ext cx="1481400" cy="237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3831300" y="1306515"/>
            <a:ext cx="1481400" cy="658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3831300" y="1361379"/>
            <a:ext cx="148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4220" y="2019747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3831300" y="2568387"/>
            <a:ext cx="1481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&amp; Engineering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022556" y="2467803"/>
            <a:ext cx="128100" cy="549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7004268" y="2330643"/>
            <a:ext cx="201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513796" y="1306515"/>
            <a:ext cx="1481400" cy="237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513796" y="1306515"/>
            <a:ext cx="1481400" cy="6585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513796" y="1361379"/>
            <a:ext cx="148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6716" y="2019747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5513796" y="2568387"/>
            <a:ext cx="1481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&amp; Comparison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7196292" y="1306515"/>
            <a:ext cx="1481400" cy="237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7196292" y="1306515"/>
            <a:ext cx="1481400" cy="65850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7196292" y="1361379"/>
            <a:ext cx="148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99212" y="2019747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7196292" y="2568387"/>
            <a:ext cx="1481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Storytelling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&amp; Conclusions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66308" y="3775395"/>
            <a:ext cx="1481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10,000 patients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seeded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2148804" y="3775395"/>
            <a:ext cx="1481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Distributions,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correlations,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class balance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831300" y="3775395"/>
            <a:ext cx="1481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Encoding, SMOTE,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StandardScaler,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new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513796" y="3775395"/>
            <a:ext cx="1481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algorithms,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5-fold CV,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composite scoring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196292" y="3775395"/>
            <a:ext cx="1481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Threshold analysis,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before/after,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exec. summary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 — 8 Derived Clinical Indices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CardioRisk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34343" y="1061208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Raw lipid values alone miss synergistic effects. Eight features encode established clinical indices: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88622" y="1372104"/>
            <a:ext cx="4114800" cy="76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88623" y="1372104"/>
            <a:ext cx="109800" cy="7680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89790" y="1426968"/>
            <a:ext cx="385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ldl_hdl_ratio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89790" y="1701288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Atherogenic index — LDL/HDL. More informative than isolated lipid values (ideal &lt; 3.0)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613151" y="1372104"/>
            <a:ext cx="4114800" cy="76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613151" y="1372104"/>
            <a:ext cx="109800" cy="7680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814319" y="1426968"/>
            <a:ext cx="385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tg_hdl_ratio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814319" y="1701288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Triglyceride/HDL ratio — insulin resistance proxy. Ideal &lt; 2.0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88622" y="2231640"/>
            <a:ext cx="4114800" cy="76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88623" y="2231640"/>
            <a:ext cx="109800" cy="7680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589790" y="2286504"/>
            <a:ext cx="385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pulse_pressure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89790" y="2560824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Systolic − Diastolic BP — arterial stiffness marker. &gt;60 mmHg signals elevated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613151" y="2231640"/>
            <a:ext cx="4114800" cy="76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613151" y="2231640"/>
            <a:ext cx="109800" cy="7680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814319" y="2286504"/>
            <a:ext cx="385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metabolic_score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814319" y="2560824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Composite of BMI, fasting glucose and blood pressure — captures metabolic syndrome signal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88622" y="3091176"/>
            <a:ext cx="4114800" cy="76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388623" y="3091176"/>
            <a:ext cx="109800" cy="76800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589790" y="3146040"/>
            <a:ext cx="385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lifestyle_score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89790" y="3420360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Physical activity × smoking interaction — captures compound lifestyle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613151" y="3091176"/>
            <a:ext cx="4114800" cy="76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613151" y="3091176"/>
            <a:ext cx="109800" cy="7680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814319" y="3146040"/>
            <a:ext cx="385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age_x_diabetes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814319" y="3420360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Age × diabetes flag — amplifies glycaemic risk with age; captures the compounding effect of aging in diabetic patients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88622" y="3950712"/>
            <a:ext cx="4114800" cy="76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88623" y="3950712"/>
            <a:ext cx="109800" cy="7680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89790" y="4005576"/>
            <a:ext cx="385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smoking_x_htn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89790" y="4279896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Smoking severity × hypertension flag — captures the particularly atherogenic effect of smoking in hypertensive patients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613151" y="3950712"/>
            <a:ext cx="4114800" cy="76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613151" y="3950712"/>
            <a:ext cx="109800" cy="7680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814319" y="4005576"/>
            <a:ext cx="385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abdominal_obesity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814319" y="4279896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Sex-specific waist circumference flag — ≥102 cm (men) or ≥88 cm (women), captures central obesity signal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Comparison — 6 Algorithms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CardioRisk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804672"/>
            <a:ext cx="502920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/>
          <p:nvPr/>
        </p:nvSpPr>
        <p:spPr>
          <a:xfrm>
            <a:off x="5577840" y="82296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Champion Selection Logic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8"/>
          <p:cNvGraphicFramePr/>
          <p:nvPr/>
        </p:nvGraphicFramePr>
        <p:xfrm>
          <a:off x="557784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{C57E5C49-0988-4279-82EE-6F06A9F57654}</a:tableStyleId>
              </a:tblPr>
              <a:tblGrid>
                <a:gridCol w="1005850"/>
                <a:gridCol w="640075"/>
                <a:gridCol w="17373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Rationale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 = clinical risk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 separability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 balance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correctness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CV-AUC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5%*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Generalisation (NB04 only)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1" name="Google Shape;211;p8"/>
          <p:cNvSpPr/>
          <p:nvPr/>
        </p:nvSpPr>
        <p:spPr>
          <a:xfrm>
            <a:off x="5577840" y="310896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* CV-AUC included in NB04 only; redistributed in NB05.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577840" y="3346704"/>
            <a:ext cx="3383280" cy="148132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705856" y="3438144"/>
            <a:ext cx="365760" cy="365760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0" y="34930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/>
          <p:nvPr/>
        </p:nvSpPr>
        <p:spPr>
          <a:xfrm>
            <a:off x="6144768" y="3438144"/>
            <a:ext cx="2706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🏆  Champion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577840" y="3785616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577840" y="4224528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Score 0.7590  ·  AUC 0.866  ·  Recall 0.747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577840" y="4480560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Feature engineering + SMOTE beat all complex ensembles.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Results — All 6 Models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CardioRisk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65760" y="74980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Evaluated on 2,000 held-out patients at natural class distribution (no SMOTE applied to test set)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9"/>
          <p:cNvGraphicFramePr/>
          <p:nvPr/>
        </p:nvGraphicFramePr>
        <p:xfrm>
          <a:off x="365760" y="1042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{C57E5C49-0988-4279-82EE-6F06A9F57654}</a:tableStyleId>
              </a:tblPr>
              <a:tblGrid>
                <a:gridCol w="2194550"/>
                <a:gridCol w="1005850"/>
                <a:gridCol w="1005850"/>
                <a:gridCol w="914400"/>
                <a:gridCol w="822950"/>
                <a:gridCol w="822950"/>
                <a:gridCol w="8229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⭐ Logistic Regression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AE6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0.7590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0.7451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0.7409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9"/>
          <p:cNvSpPr/>
          <p:nvPr/>
        </p:nvSpPr>
        <p:spPr>
          <a:xfrm>
            <a:off x="365760" y="4425696"/>
            <a:ext cx="8412480" cy="38404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457200" y="4462272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💡  Key insight: Logistic Regression beat all ensembles. Feature engineering + SMOTE extracted the signal — the algorithm mattered less than the preprocessing.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Optimisation Impact &amp; Threshold Analysis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CardioRisk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365760" y="76809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v1 → v2  Improvement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78992"/>
            <a:ext cx="420624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>
            <a:off x="365760" y="4041648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v1 = Logistic Regression, no engineering, no SMOTE, default threshold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846320" y="768096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Threshold Calibration for Screening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846320" y="1078992"/>
            <a:ext cx="406908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4846320" y="1078992"/>
            <a:ext cx="109728" cy="13716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047488" y="11338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 = 0.50  (Default)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047488" y="14447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 xml:space="preserve">Recall  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 xml:space="preserve">0.747    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 xml:space="preserve">Precision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 xml:space="preserve">0.742    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 xml:space="preserve">F1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0.744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047488" y="177393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Misses 1 in 4 high-risk patients.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846320" y="2596896"/>
            <a:ext cx="4069080" cy="1700784"/>
          </a:xfrm>
          <a:prstGeom prst="rect">
            <a:avLst/>
          </a:prstGeom>
          <a:solidFill>
            <a:srgbClr val="EBF5FB"/>
          </a:solidFill>
          <a:ln cap="flat" cmpd="sng" w="15225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4846320" y="2596896"/>
            <a:ext cx="109728" cy="1700784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5047488" y="265176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 = 0.35  ← Recommended for Screening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5047488" y="29992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Recall   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0.863    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Precision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0.650    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 xml:space="preserve">F1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0.742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047488" y="3310128"/>
            <a:ext cx="3749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Catches ~9 in 10 high-risk patients.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~2 in 3 flagged = true positive (Precision 65%).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Unnecessary follow-up costs far less than a missed event.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CardioRisk 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65760" y="822960"/>
            <a:ext cx="841248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365760" y="822960"/>
            <a:ext cx="109728" cy="713232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512064" y="969264"/>
            <a:ext cx="402336" cy="402336"/>
          </a:xfrm>
          <a:prstGeom prst="ellipse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02412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/>
          <p:nvPr/>
        </p:nvSpPr>
        <p:spPr>
          <a:xfrm>
            <a:off x="1024128" y="89611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Glycaemic markers dominate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024128" y="1170432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Fasting glucose &amp; HbA1c ranked #1 across all tree-based models — reflecting the strong causal link between insulin resistance and cardiovascular disease.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365760" y="1618488"/>
            <a:ext cx="841248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365760" y="1618488"/>
            <a:ext cx="109728" cy="71323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512064" y="1764792"/>
            <a:ext cx="402336" cy="402336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8196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/>
          <p:nvPr/>
        </p:nvSpPr>
        <p:spPr>
          <a:xfrm>
            <a:off x="1024128" y="1691640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Engineered lipid ratios outperform raw values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024128" y="1965960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LDL/HDL ratio consistently ranked above isolated LDL or HDL, validating established clinical atherogenic indices from the cardiology literature.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365760" y="2414016"/>
            <a:ext cx="841248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365760" y="2414016"/>
            <a:ext cx="109728" cy="71323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512064" y="2560320"/>
            <a:ext cx="402336" cy="402336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928" y="261518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1"/>
          <p:cNvSpPr/>
          <p:nvPr/>
        </p:nvSpPr>
        <p:spPr>
          <a:xfrm>
            <a:off x="1024128" y="2487168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Smoking: disproportionate risk premium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024128" y="2761488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Current smokers show ~2× the high-risk prevalence of non-smokers — the single largest individual-factor effect in the entire dataset.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65760" y="3209544"/>
            <a:ext cx="841248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365760" y="3209544"/>
            <a:ext cx="109728" cy="713232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512064" y="3355848"/>
            <a:ext cx="402336" cy="402336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5" name="Google Shape;28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928" y="34107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/>
          <p:nvPr/>
        </p:nvSpPr>
        <p:spPr>
          <a:xfrm>
            <a:off x="1024128" y="3282696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Sedentary behaviour is strongly discriminating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1024128" y="3557016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Sedentary patients carry ~45 percentage points higher risk than those with intense activity — the most impactful modifiable lifestyle factor after smoking.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65760" y="4005072"/>
            <a:ext cx="841248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65760" y="4005072"/>
            <a:ext cx="109728" cy="713232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512064" y="4151376"/>
            <a:ext cx="402336" cy="402336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928" y="4206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/>
          <p:nvPr/>
        </p:nvSpPr>
        <p:spPr>
          <a:xfrm>
            <a:off x="1024128" y="4078224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Diabetes + hypertension = highest-risk group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024128" y="4352544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concurrent comorbidity drove roughly double the prevalence of either condition in isolation — far exceeding additive risk expectations.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12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365760" y="2743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2"/>
          <p:cNvSpPr/>
          <p:nvPr/>
        </p:nvSpPr>
        <p:spPr>
          <a:xfrm>
            <a:off x="1417320" y="274320"/>
            <a:ext cx="7406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365760" y="1005840"/>
            <a:ext cx="8412480" cy="36576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384048" y="1261872"/>
            <a:ext cx="365760" cy="365760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4" name="Google Shape;30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" y="13167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2"/>
          <p:cNvSpPr/>
          <p:nvPr/>
        </p:nvSpPr>
        <p:spPr>
          <a:xfrm>
            <a:off x="877824" y="1170432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ML pipeline validated on 10,000 synthetic clinical records with full reproducibility (seed = 42).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384048" y="1993392"/>
            <a:ext cx="365760" cy="365760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" y="20482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2"/>
          <p:cNvSpPr/>
          <p:nvPr/>
        </p:nvSpPr>
        <p:spPr>
          <a:xfrm>
            <a:off x="877824" y="1901952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 delivered the biggest lift: Precision +25.6% over baseline — outweighing algorithm choice.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384048" y="2724912"/>
            <a:ext cx="365760" cy="365760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" y="27797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2"/>
          <p:cNvSpPr/>
          <p:nvPr/>
        </p:nvSpPr>
        <p:spPr>
          <a:xfrm>
            <a:off x="877824" y="2633472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Champion model (Logistic Regression, AUC = 0.866) proves that interpretable models can compete with complex ensembles when the preprocessing is rigorous.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384048" y="3456432"/>
            <a:ext cx="365760" cy="36576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" y="35112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2"/>
          <p:cNvSpPr/>
          <p:nvPr/>
        </p:nvSpPr>
        <p:spPr>
          <a:xfrm>
            <a:off x="877824" y="3364992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 t = 0.35, the model catches 9 in 10 at-risk patients — clinically viable for preventive screening programmes.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384048" y="4187952"/>
            <a:ext cx="365760" cy="365760"/>
          </a:xfrm>
          <a:prstGeom prst="ellipse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912" y="42428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2"/>
          <p:cNvSpPr/>
          <p:nvPr/>
        </p:nvSpPr>
        <p:spPr>
          <a:xfrm>
            <a:off x="877824" y="4096512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Next step: validate on real-world data (e.g. UCI Heart Disease or Framingham public dataset) to assess generalisability.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Emerson Antonio da Silva  ·  github.com/</a:t>
            </a: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semersonantonio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·  Madrid, Spain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