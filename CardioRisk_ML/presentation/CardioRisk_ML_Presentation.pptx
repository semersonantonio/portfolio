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7E5C49-0988-4279-82EE-6F06A9F57654}">
  <a:tblStyle styleId="{C57E5C49-0988-4279-82EE-6F06A9F576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2.png"/><Relationship Id="rId7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8.png"/><Relationship Id="rId5" Type="http://schemas.openxmlformats.org/officeDocument/2006/relationships/image" Target="../media/image22.png"/><Relationship Id="rId6" Type="http://schemas.openxmlformats.org/officeDocument/2006/relationships/image" Target="../media/image10.png"/><Relationship Id="rId7" Type="http://schemas.openxmlformats.org/officeDocument/2006/relationships/image" Target="../media/image2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5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274320" y="640080"/>
            <a:ext cx="2286000" cy="2286000"/>
          </a:xfrm>
          <a:prstGeom prst="ellipse">
            <a:avLst/>
          </a:prstGeom>
          <a:solidFill>
            <a:srgbClr val="0D7377">
              <a:alpha val="18039"/>
            </a:srgbClr>
          </a:solidFill>
          <a:ln cap="flat" cmpd="sng" w="12700">
            <a:solidFill>
              <a:srgbClr val="0D7377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822960"/>
            <a:ext cx="1828800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2651760" y="914400"/>
            <a:ext cx="6217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2651760" y="1965960"/>
            <a:ext cx="6217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2200"/>
              <a:buFont typeface="Calibri"/>
              <a:buNone/>
            </a:pPr>
            <a:r>
              <a:rPr b="0" i="1" lang="en-US" sz="22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Cardiovascular Risk Prediction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2651760" y="2560320"/>
            <a:ext cx="6126480" cy="36576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2651760" y="2670048"/>
            <a:ext cx="6217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End-to-end ML pipeline for binary classification of cardiovascular risk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 a synthetic clinical dataset of 10,000 adult patients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2651760" y="3749040"/>
            <a:ext cx="1152144" cy="292608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2651760" y="3749040"/>
            <a:ext cx="11521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Python 3.10+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3913632" y="3749040"/>
            <a:ext cx="1152144" cy="292608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3913632" y="3749040"/>
            <a:ext cx="11521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Scikit-learn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5175504" y="3749040"/>
            <a:ext cx="1152144" cy="292608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5175504" y="3749040"/>
            <a:ext cx="11521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437376" y="3749040"/>
            <a:ext cx="1152144" cy="292608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6437376" y="3749040"/>
            <a:ext cx="11521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7699248" y="3749040"/>
            <a:ext cx="1152144" cy="292608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7699248" y="3749040"/>
            <a:ext cx="11521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Pandas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2651760" y="448056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Emerson Antonio da Silva  ·  github.com/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emersonantoniods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11480" y="804672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Three clinical questions drive the project: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365760" y="1188720"/>
            <a:ext cx="8412480" cy="10241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365760" y="1188720"/>
            <a:ext cx="128016" cy="1024128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475488" y="1481328"/>
            <a:ext cx="420624" cy="420624"/>
          </a:xfrm>
          <a:prstGeom prst="ellipse">
            <a:avLst/>
          </a:prstGeom>
          <a:solidFill>
            <a:srgbClr val="0D7377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" name="Google Shape;4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496" y="154533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4"/>
          <p:cNvSpPr/>
          <p:nvPr/>
        </p:nvSpPr>
        <p:spPr>
          <a:xfrm>
            <a:off x="1005840" y="1280160"/>
            <a:ext cx="7406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 Which factors drive cardiovascular risk?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005840" y="1591056"/>
            <a:ext cx="7406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Feature importance analysis across six ML models to identify the top clinical and lifestyle predictors.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365760" y="2359152"/>
            <a:ext cx="8412480" cy="10241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65760" y="2359152"/>
            <a:ext cx="128016" cy="102412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475488" y="2651760"/>
            <a:ext cx="420624" cy="420624"/>
          </a:xfrm>
          <a:prstGeom prst="ellipse">
            <a:avLst/>
          </a:prstGeom>
          <a:solidFill>
            <a:srgbClr val="1B3A5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496" y="2715768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4"/>
          <p:cNvSpPr/>
          <p:nvPr/>
        </p:nvSpPr>
        <p:spPr>
          <a:xfrm>
            <a:off x="1005840" y="2450592"/>
            <a:ext cx="7406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 Can ML reliably identify at-risk patients?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1005840" y="2761488"/>
            <a:ext cx="7406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Binary classification on 10,000 synthetic patients calibrated against Framingham Heart Study &amp; NHANES.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365760" y="3529584"/>
            <a:ext cx="8412480" cy="10241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365760" y="3529584"/>
            <a:ext cx="128016" cy="1024128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475488" y="3822192"/>
            <a:ext cx="420624" cy="420624"/>
          </a:xfrm>
          <a:prstGeom prst="ellipse">
            <a:avLst/>
          </a:prstGeom>
          <a:solidFill>
            <a:srgbClr val="E67E2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9" name="Google Shape;59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9496" y="38862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4"/>
          <p:cNvSpPr/>
          <p:nvPr/>
        </p:nvSpPr>
        <p:spPr>
          <a:xfrm>
            <a:off x="1005840" y="3621024"/>
            <a:ext cx="7406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 What threshold maximises clinical utility?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1005840" y="3931920"/>
            <a:ext cx="7406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Threshold analysis optimised to maximise Recall — minimising missed high-risk cases in preventive screening.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— Synthetic Clinical Records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365760" y="795528"/>
            <a:ext cx="1938528" cy="1078992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365760" y="886968"/>
            <a:ext cx="1938528" cy="6258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10,000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65760" y="1421343"/>
            <a:ext cx="1938528" cy="410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Patient Records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2487168" y="795528"/>
            <a:ext cx="1938528" cy="107899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2487168" y="886968"/>
            <a:ext cx="1938528" cy="6258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~35%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2487168" y="1421343"/>
            <a:ext cx="1938528" cy="410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High-Risk Class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608576" y="795528"/>
            <a:ext cx="1938528" cy="1078992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4608576" y="886968"/>
            <a:ext cx="1938528" cy="6258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608576" y="1421343"/>
            <a:ext cx="1938528" cy="410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Features (incl. 8 engineered)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6729984" y="795528"/>
            <a:ext cx="1938528" cy="1078992"/>
          </a:xfrm>
          <a:prstGeom prst="rect">
            <a:avLst/>
          </a:prstGeom>
          <a:solidFill>
            <a:srgbClr val="475569"/>
          </a:solidFill>
          <a:ln cap="flat" cmpd="sng" w="12700">
            <a:solidFill>
              <a:srgbClr val="47556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6729984" y="886968"/>
            <a:ext cx="1938528" cy="6258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6729984" y="1421343"/>
            <a:ext cx="1938528" cy="410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Random Seed (reproducible)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365760" y="1993392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Variable Groups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754880" y="1993392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Clinical Grounding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365760" y="2304288"/>
            <a:ext cx="4023360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365760" y="2304288"/>
            <a:ext cx="91440" cy="58521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548640" y="2340864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Demographics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548640" y="2578608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Age (30–80 yrs), sex, race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65760" y="2980944"/>
            <a:ext cx="4023360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365760" y="2980944"/>
            <a:ext cx="91440" cy="58521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5"/>
          <p:cNvSpPr/>
          <p:nvPr/>
        </p:nvSpPr>
        <p:spPr>
          <a:xfrm>
            <a:off x="548640" y="3017520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Vitals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548640" y="3255264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Systolic/diastolic BP, BMI, resting HR, height, weight, waist circumference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365760" y="3657600"/>
            <a:ext cx="4023360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365760" y="3657600"/>
            <a:ext cx="91440" cy="58521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48640" y="3694176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Lipid Panel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548640" y="393192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LDL, HDL, triglycerides, total cholesterol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4754880" y="2304288"/>
            <a:ext cx="4023360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4754880" y="2304288"/>
            <a:ext cx="91440" cy="58521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4937760" y="2340864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Glycaemic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4937760" y="2578608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Fasting glucose, HbA1c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4754880" y="2980944"/>
            <a:ext cx="4023360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4754880" y="2980944"/>
            <a:ext cx="91440" cy="58521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937760" y="3017520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Lifestyle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4937760" y="3255264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Physical activity, smoking, alcohol use, diet quality, sleep, stress level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754880" y="3657600"/>
            <a:ext cx="4023360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4754880" y="3657600"/>
            <a:ext cx="91440" cy="58521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"/>
          <p:cNvSpPr/>
          <p:nvPr/>
        </p:nvSpPr>
        <p:spPr>
          <a:xfrm>
            <a:off x="4937760" y="3694176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Comorbidities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4937760" y="393192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Diabetes, hypertension, family CVD history, CV medication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65760" y="4407408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📋  Calibrated against the Framingham Heart Study &amp; NHANES — correlations follow established clinical relationships.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Five-Notebook Pipeline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975068" y="2467803"/>
            <a:ext cx="128100" cy="549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"/>
          <p:cNvSpPr/>
          <p:nvPr/>
        </p:nvSpPr>
        <p:spPr>
          <a:xfrm>
            <a:off x="1956780" y="2330643"/>
            <a:ext cx="201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66308" y="1306515"/>
            <a:ext cx="1481400" cy="2377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466308" y="1306515"/>
            <a:ext cx="1481400" cy="658500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466308" y="1361379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4" name="Google Shape;1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28" y="2019747"/>
            <a:ext cx="475488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6"/>
          <p:cNvSpPr/>
          <p:nvPr/>
        </p:nvSpPr>
        <p:spPr>
          <a:xfrm>
            <a:off x="466308" y="2568387"/>
            <a:ext cx="1481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Generation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3657564" y="2467803"/>
            <a:ext cx="128100" cy="549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3639276" y="2330643"/>
            <a:ext cx="201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2148804" y="1306515"/>
            <a:ext cx="1481400" cy="2377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2148804" y="1306515"/>
            <a:ext cx="1481400" cy="6585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2148804" y="1361379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51724" y="2019747"/>
            <a:ext cx="475488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6"/>
          <p:cNvSpPr/>
          <p:nvPr/>
        </p:nvSpPr>
        <p:spPr>
          <a:xfrm>
            <a:off x="2148804" y="2568387"/>
            <a:ext cx="1481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Exploratory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5340060" y="2467803"/>
            <a:ext cx="128100" cy="549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5321772" y="2330643"/>
            <a:ext cx="201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3831300" y="1306515"/>
            <a:ext cx="1481400" cy="2377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3831300" y="1306515"/>
            <a:ext cx="1481400" cy="658500"/>
          </a:xfrm>
          <a:prstGeom prst="rect">
            <a:avLst/>
          </a:prstGeom>
          <a:solidFill>
            <a:srgbClr val="0891B2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3831300" y="1361379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8" name="Google Shape;138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4220" y="2019747"/>
            <a:ext cx="475488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/>
          <p:nvPr/>
        </p:nvSpPr>
        <p:spPr>
          <a:xfrm>
            <a:off x="3831300" y="2568387"/>
            <a:ext cx="1481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Preprocessing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&amp; Engineering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7022556" y="2467803"/>
            <a:ext cx="128100" cy="549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7004268" y="2330643"/>
            <a:ext cx="201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7377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D7377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5513796" y="1306515"/>
            <a:ext cx="1481400" cy="2377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5513796" y="1306515"/>
            <a:ext cx="1481400" cy="65850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5513796" y="1361379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5" name="Google Shape;14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16716" y="2019747"/>
            <a:ext cx="475488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6"/>
          <p:cNvSpPr/>
          <p:nvPr/>
        </p:nvSpPr>
        <p:spPr>
          <a:xfrm>
            <a:off x="5513796" y="2568387"/>
            <a:ext cx="1481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Modelling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&amp; Comparison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7196292" y="1306515"/>
            <a:ext cx="1481400" cy="2377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7196292" y="1306515"/>
            <a:ext cx="1481400" cy="658500"/>
          </a:xfrm>
          <a:prstGeom prst="rect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7196292" y="1361379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0" name="Google Shape;150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99212" y="2019747"/>
            <a:ext cx="475488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"/>
          <p:cNvSpPr/>
          <p:nvPr/>
        </p:nvSpPr>
        <p:spPr>
          <a:xfrm>
            <a:off x="7196292" y="2568387"/>
            <a:ext cx="1481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Storytelling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&amp; Conclusions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66308" y="3775395"/>
            <a:ext cx="1481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10,000 patients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seeded generation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2148804" y="3775395"/>
            <a:ext cx="1481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Distributions,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correlations,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class balance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3831300" y="3775395"/>
            <a:ext cx="1481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Encoding, SMOTE,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StandardScaler,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8 new features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5513796" y="3775395"/>
            <a:ext cx="1481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algorithms,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5-fold CV,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composite scoring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7196292" y="3775395"/>
            <a:ext cx="1481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Threshold analysis,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before/after,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exec. summary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Engineering — 8 Derived Clinical Indices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34343" y="1061208"/>
            <a:ext cx="8321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Raw lipid values alone miss synergistic effects. Eight features encode established clinical indices: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388622" y="1372104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388623" y="1372104"/>
            <a:ext cx="109800" cy="76800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589790" y="1426968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ldl_hdl_ratio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589790" y="1701288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Atherogenic index — LDL/HDL. More informative than isolated lipid values (ideal &lt; 3.0)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4613151" y="1372104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4613151" y="1372104"/>
            <a:ext cx="109800" cy="76800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7"/>
          <p:cNvSpPr/>
          <p:nvPr/>
        </p:nvSpPr>
        <p:spPr>
          <a:xfrm>
            <a:off x="4814319" y="1426968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tg_hdl_ratio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4814319" y="1701288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Triglyceride/HDL ratio — insulin resistance proxy. Ideal &lt; 2.0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388622" y="2231640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388623" y="2231640"/>
            <a:ext cx="109800" cy="768000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589790" y="2286504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pulse_pressure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589790" y="2560824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Systolic − Diastolic BP — arterial stiffness marker. &gt;60 mmHg signals elevated risk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4613151" y="2231640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4613151" y="2231640"/>
            <a:ext cx="109800" cy="7680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4814319" y="2286504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metabolic_score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4814319" y="2560824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Composite of BMI, fasting glucose and blood pressure — captures metabolic syndrome signal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388622" y="3091176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7"/>
          <p:cNvSpPr/>
          <p:nvPr/>
        </p:nvSpPr>
        <p:spPr>
          <a:xfrm>
            <a:off x="388623" y="3091176"/>
            <a:ext cx="109800" cy="768000"/>
          </a:xfrm>
          <a:prstGeom prst="rect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589790" y="3146040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lifestyle_score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589790" y="3420360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Physical activity × smoking interaction — captures compound lifestyle risk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4613151" y="3091176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4613151" y="3091176"/>
            <a:ext cx="109800" cy="76800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4814319" y="3146040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bmi_age_interaction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4814319" y="3420360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BMI × age — amplifies obesity risk as patients age; captures delayed metabolic damage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388622" y="3950712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388623" y="3950712"/>
            <a:ext cx="109800" cy="76800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7"/>
          <p:cNvSpPr/>
          <p:nvPr/>
        </p:nvSpPr>
        <p:spPr>
          <a:xfrm>
            <a:off x="589790" y="4005576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glucose_diabetes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589790" y="4279896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Fasting glucose × diabetes flag — flags uncontrolled glycaemia in confirmed diabetics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4613151" y="3950712"/>
            <a:ext cx="4114800" cy="76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4613151" y="3950712"/>
            <a:ext cx="109800" cy="76800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7"/>
          <p:cNvSpPr/>
          <p:nvPr/>
        </p:nvSpPr>
        <p:spPr>
          <a:xfrm>
            <a:off x="4814319" y="4005576"/>
            <a:ext cx="3858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bp_hypertension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814319" y="4279896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Systolic BP × hypertension flag — isolates drug-resistant or severe hypertension signal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Comparison — 6 Algorithms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804672"/>
            <a:ext cx="5029200" cy="384048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8"/>
          <p:cNvSpPr/>
          <p:nvPr/>
        </p:nvSpPr>
        <p:spPr>
          <a:xfrm>
            <a:off x="5577840" y="822960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Champion Selection Logic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8"/>
          <p:cNvGraphicFramePr/>
          <p:nvPr/>
        </p:nvGraphicFramePr>
        <p:xfrm>
          <a:off x="5577840" y="11704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{C57E5C49-0988-4279-82EE-6F06A9F57654}</a:tableStyleId>
              </a:tblPr>
              <a:tblGrid>
                <a:gridCol w="1005850"/>
                <a:gridCol w="640075"/>
                <a:gridCol w="1737350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Weight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Rationale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Miss = clinical risk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40%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 separability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10%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Precision balance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Accuracy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5%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Overall correctness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CV-AUC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5%*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i="1" lang="en-US" sz="1000" u="none" cap="none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Generalisation (NB04 only)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1" name="Google Shape;211;p8"/>
          <p:cNvSpPr/>
          <p:nvPr/>
        </p:nvSpPr>
        <p:spPr>
          <a:xfrm>
            <a:off x="5577840" y="3108960"/>
            <a:ext cx="3383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* CV-AUC included in NB04 only; redistributed in NB05.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5577840" y="3346704"/>
            <a:ext cx="3383280" cy="148132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5705856" y="3438144"/>
            <a:ext cx="365760" cy="36576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4" name="Google Shape;21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60720" y="349300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/>
          <p:nvPr/>
        </p:nvSpPr>
        <p:spPr>
          <a:xfrm>
            <a:off x="6144768" y="3438144"/>
            <a:ext cx="270662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🏆  Champion Model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5577840" y="3785616"/>
            <a:ext cx="33832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5577840" y="4224528"/>
            <a:ext cx="33832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Score 0.7590  ·  AUC 0.866  ·  Recall 0.747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5577840" y="4480560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Feature engineering + SMOTE beat all complex ensembles.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 Results — All 6 Models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365760" y="749808"/>
            <a:ext cx="8412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Evaluated on 2,000 held-out patients at natural class distribution (no SMOTE applied to test set)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9" name="Google Shape;229;p9"/>
          <p:cNvGraphicFramePr/>
          <p:nvPr/>
        </p:nvGraphicFramePr>
        <p:xfrm>
          <a:off x="365760" y="10424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{C57E5C49-0988-4279-82EE-6F06A9F57654}</a:tableStyleId>
              </a:tblPr>
              <a:tblGrid>
                <a:gridCol w="2194550"/>
                <a:gridCol w="1005850"/>
                <a:gridCol w="1005850"/>
                <a:gridCol w="914400"/>
                <a:gridCol w="822950"/>
                <a:gridCol w="822950"/>
                <a:gridCol w="82295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Accuracy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3A5C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B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⭐ Logistic Regression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7AE6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7AE6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0.7590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0.738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 Boosting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0.730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0.7451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0.7424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0.732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0.7409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 Tree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0.697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0.672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0.684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0.6913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9"/>
          <p:cNvSpPr/>
          <p:nvPr/>
        </p:nvSpPr>
        <p:spPr>
          <a:xfrm>
            <a:off x="365760" y="4425696"/>
            <a:ext cx="8412480" cy="384048"/>
          </a:xfrm>
          <a:prstGeom prst="rect">
            <a:avLst/>
          </a:prstGeom>
          <a:solidFill>
            <a:srgbClr val="EBF5FB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457200" y="4462272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💡  Key insight: Logistic Regression beat all ensembles. Feature engineering + SMOTE extracted the signal — the algorithm mattered less than the preprocessing.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0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Optimisation Impact &amp; Threshold Analysis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365760" y="768096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v1 → v2  Improvement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078992"/>
            <a:ext cx="4206240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0"/>
          <p:cNvSpPr/>
          <p:nvPr/>
        </p:nvSpPr>
        <p:spPr>
          <a:xfrm>
            <a:off x="365760" y="4041648"/>
            <a:ext cx="4206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v1 = Logistic Regression, no engineering, no SMOTE, default threshold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4846320" y="768096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Threshold Calibration for Screening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4846320" y="1078992"/>
            <a:ext cx="406908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"/>
          <p:cNvSpPr/>
          <p:nvPr/>
        </p:nvSpPr>
        <p:spPr>
          <a:xfrm>
            <a:off x="4846320" y="1078992"/>
            <a:ext cx="109728" cy="1371600"/>
          </a:xfrm>
          <a:prstGeom prst="rect">
            <a:avLst/>
          </a:prstGeom>
          <a:solidFill>
            <a:srgbClr val="94A3B8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"/>
          <p:cNvSpPr/>
          <p:nvPr/>
        </p:nvSpPr>
        <p:spPr>
          <a:xfrm>
            <a:off x="5047488" y="1133856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 = 0.50  (Default)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5047488" y="144475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Recall  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0.747     </a:t>
            </a:r>
            <a:r>
              <a:rPr b="1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Precision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0.742     </a:t>
            </a:r>
            <a:r>
              <a:rPr b="1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F1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0.744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5047488" y="1773936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Misses 1 in 4 high-risk patients.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4846320" y="2596896"/>
            <a:ext cx="4069080" cy="1700784"/>
          </a:xfrm>
          <a:prstGeom prst="rect">
            <a:avLst/>
          </a:prstGeom>
          <a:solidFill>
            <a:srgbClr val="EBF5FB"/>
          </a:solidFill>
          <a:ln cap="flat" cmpd="sng" w="15225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4846320" y="2596896"/>
            <a:ext cx="109728" cy="1700784"/>
          </a:xfrm>
          <a:prstGeom prst="rect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5047488" y="2651760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 = 0.35  ← Recommended for Screening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5047488" y="299923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Recall    </a:t>
            </a: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0.863     </a:t>
            </a: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Precision </a:t>
            </a: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0.650     </a:t>
            </a: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F1 </a:t>
            </a: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0.742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5047488" y="3310128"/>
            <a:ext cx="37490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Catches ~9 in 10 high-risk patients.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~2 in 3 flagged = true positive (Precision 65%).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Unnecessary follow-up costs far less than a missed event.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411480" y="73152"/>
            <a:ext cx="8321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7EC8E3"/>
                </a:solidFill>
                <a:latin typeface="Calibri"/>
                <a:ea typeface="Calibri"/>
                <a:cs typeface="Calibri"/>
                <a:sym typeface="Calibri"/>
              </a:rPr>
              <a:t>CardioRisk ML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365760" y="822960"/>
            <a:ext cx="841248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1"/>
          <p:cNvSpPr/>
          <p:nvPr/>
        </p:nvSpPr>
        <p:spPr>
          <a:xfrm>
            <a:off x="365760" y="822960"/>
            <a:ext cx="109728" cy="713232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512064" y="969264"/>
            <a:ext cx="402336" cy="402336"/>
          </a:xfrm>
          <a:prstGeom prst="ellipse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7" name="Google Shape;26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024128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1"/>
          <p:cNvSpPr/>
          <p:nvPr/>
        </p:nvSpPr>
        <p:spPr>
          <a:xfrm>
            <a:off x="1024128" y="896112"/>
            <a:ext cx="7589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Glycaemic markers dominate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1024128" y="1170432"/>
            <a:ext cx="7589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Fasting glucose &amp; HbA1c ranked #1 across all tree-based models — reflecting the strong causal link between insulin resistance and cardiovascular disease.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365760" y="1618488"/>
            <a:ext cx="841248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365760" y="1618488"/>
            <a:ext cx="109728" cy="713232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1"/>
          <p:cNvSpPr/>
          <p:nvPr/>
        </p:nvSpPr>
        <p:spPr>
          <a:xfrm>
            <a:off x="512064" y="1764792"/>
            <a:ext cx="402336" cy="402336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3" name="Google Shape;273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928" y="181965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11"/>
          <p:cNvSpPr/>
          <p:nvPr/>
        </p:nvSpPr>
        <p:spPr>
          <a:xfrm>
            <a:off x="1024128" y="1691640"/>
            <a:ext cx="7589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Engineered lipid ratios outperform raw values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1024128" y="1965960"/>
            <a:ext cx="7589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LDL/HDL ratio consistently ranked above isolated LDL or HDL, validating established clinical atherogenic indices from the cardiology literature.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365760" y="2414016"/>
            <a:ext cx="841248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365760" y="2414016"/>
            <a:ext cx="109728" cy="71323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512064" y="2560320"/>
            <a:ext cx="402336" cy="402336"/>
          </a:xfrm>
          <a:prstGeom prst="ellipse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9" name="Google Shape;279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928" y="261518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1"/>
          <p:cNvSpPr/>
          <p:nvPr/>
        </p:nvSpPr>
        <p:spPr>
          <a:xfrm>
            <a:off x="1024128" y="2487168"/>
            <a:ext cx="7589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Smoking: disproportionate risk premium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1024128" y="2761488"/>
            <a:ext cx="7589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Current smokers show ~2× the high-risk prevalence of non-smokers — the single largest individual-factor effect in the entire dataset.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365760" y="3209544"/>
            <a:ext cx="841248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365760" y="3209544"/>
            <a:ext cx="109728" cy="713232"/>
          </a:xfrm>
          <a:prstGeom prst="rect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1"/>
          <p:cNvSpPr/>
          <p:nvPr/>
        </p:nvSpPr>
        <p:spPr>
          <a:xfrm>
            <a:off x="512064" y="3355848"/>
            <a:ext cx="402336" cy="402336"/>
          </a:xfrm>
          <a:prstGeom prst="ellipse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5" name="Google Shape;285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928" y="341071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1"/>
          <p:cNvSpPr/>
          <p:nvPr/>
        </p:nvSpPr>
        <p:spPr>
          <a:xfrm>
            <a:off x="1024128" y="3282696"/>
            <a:ext cx="7589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Sedentary behaviour is strongly discriminating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1024128" y="3557016"/>
            <a:ext cx="7589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Sedentary patients carry ~45 percentage points higher risk than those with intense activity — the most impactful modifiable lifestyle factor after smoking.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365760" y="4005072"/>
            <a:ext cx="841248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365760" y="4005072"/>
            <a:ext cx="109728" cy="713232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1"/>
          <p:cNvSpPr/>
          <p:nvPr/>
        </p:nvSpPr>
        <p:spPr>
          <a:xfrm>
            <a:off x="512064" y="4151376"/>
            <a:ext cx="402336" cy="402336"/>
          </a:xfrm>
          <a:prstGeom prst="ellipse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1" name="Google Shape;291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66928" y="4206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1"/>
          <p:cNvSpPr/>
          <p:nvPr/>
        </p:nvSpPr>
        <p:spPr>
          <a:xfrm>
            <a:off x="1024128" y="4078224"/>
            <a:ext cx="7589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Diabetes + hypertension = highest-risk group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1024128" y="4352544"/>
            <a:ext cx="7589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concurrent comorbidity drove roughly double the prevalence of either condition in isolation — far exceeding additive risk expectations.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5C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0" name="Google Shape;300;p12"/>
          <p:cNvPicPr preferRelativeResize="0"/>
          <p:nvPr/>
        </p:nvPicPr>
        <p:blipFill rotWithShape="1">
          <a:blip r:embed="rId3">
            <a:alphaModFix amt="80000"/>
          </a:blip>
          <a:srcRect b="0" l="0" r="0" t="0"/>
          <a:stretch/>
        </p:blipFill>
        <p:spPr>
          <a:xfrm>
            <a:off x="365760" y="27432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2"/>
          <p:cNvSpPr/>
          <p:nvPr/>
        </p:nvSpPr>
        <p:spPr>
          <a:xfrm>
            <a:off x="1417320" y="274320"/>
            <a:ext cx="7406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365760" y="1005840"/>
            <a:ext cx="8412480" cy="36576"/>
          </a:xfrm>
          <a:prstGeom prst="rect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2"/>
          <p:cNvSpPr/>
          <p:nvPr/>
        </p:nvSpPr>
        <p:spPr>
          <a:xfrm>
            <a:off x="384048" y="1261872"/>
            <a:ext cx="365760" cy="365760"/>
          </a:xfrm>
          <a:prstGeom prst="ellipse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4" name="Google Shape;304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" y="13167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2"/>
          <p:cNvSpPr/>
          <p:nvPr/>
        </p:nvSpPr>
        <p:spPr>
          <a:xfrm>
            <a:off x="877824" y="1170432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End-to-end ML pipeline validated on 10,000 synthetic clinical records with full reproducibility (seed = 42).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384048" y="1993392"/>
            <a:ext cx="365760" cy="365760"/>
          </a:xfrm>
          <a:prstGeom prst="ellipse">
            <a:avLst/>
          </a:prstGeom>
          <a:solidFill>
            <a:srgbClr val="27AE60"/>
          </a:solidFill>
          <a:ln cap="flat" cmpd="sng" w="12700">
            <a:solidFill>
              <a:srgbClr val="27AE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7" name="Google Shape;30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" y="20482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2"/>
          <p:cNvSpPr/>
          <p:nvPr/>
        </p:nvSpPr>
        <p:spPr>
          <a:xfrm>
            <a:off x="877824" y="1901952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engineering delivered the biggest lift: Precision +25.6% over baseline — outweighing algorithm choice.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384048" y="2724912"/>
            <a:ext cx="365760" cy="365760"/>
          </a:xfrm>
          <a:prstGeom prst="ellipse">
            <a:avLst/>
          </a:prstGeom>
          <a:solidFill>
            <a:srgbClr val="0D7377"/>
          </a:solidFill>
          <a:ln cap="flat" cmpd="sng" w="12700">
            <a:solidFill>
              <a:srgbClr val="0D73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0" name="Google Shape;310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" y="277977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2"/>
          <p:cNvSpPr/>
          <p:nvPr/>
        </p:nvSpPr>
        <p:spPr>
          <a:xfrm>
            <a:off x="877824" y="2633472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Champion model (Logistic Regression, AUC = 0.866) proves that interpretable models can compete with complex ensembles when the preprocessing is rigorous.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384048" y="3456432"/>
            <a:ext cx="365760" cy="365760"/>
          </a:xfrm>
          <a:prstGeom prst="ellipse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3" name="Google Shape;31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" y="35112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12"/>
          <p:cNvSpPr/>
          <p:nvPr/>
        </p:nvSpPr>
        <p:spPr>
          <a:xfrm>
            <a:off x="877824" y="3364992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 t = 0.35, the model catches 9 in 10 at-risk patients — clinically viable for preventive screening programmes.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384048" y="4187952"/>
            <a:ext cx="365760" cy="365760"/>
          </a:xfrm>
          <a:prstGeom prst="ellipse">
            <a:avLst/>
          </a:prstGeom>
          <a:solidFill>
            <a:srgbClr val="F39C12"/>
          </a:solidFill>
          <a:ln cap="flat" cmpd="sng" w="12700">
            <a:solidFill>
              <a:srgbClr val="F39C1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6" name="Google Shape;316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912" y="424281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2"/>
          <p:cNvSpPr/>
          <p:nvPr/>
        </p:nvSpPr>
        <p:spPr>
          <a:xfrm>
            <a:off x="877824" y="4096512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9C1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39C12"/>
                </a:solidFill>
                <a:latin typeface="Calibri"/>
                <a:ea typeface="Calibri"/>
                <a:cs typeface="Calibri"/>
                <a:sym typeface="Calibri"/>
              </a:rPr>
              <a:t>Next step: validate on real-world data (e.g. UCI Heart Disease or Framingham public dataset) to assess generalisability.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Emerson Antonio da Silva  ·  github.com/</a:t>
            </a:r>
            <a:r>
              <a:rPr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emersonantoniods</a:t>
            </a: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·  Madrid, Spain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